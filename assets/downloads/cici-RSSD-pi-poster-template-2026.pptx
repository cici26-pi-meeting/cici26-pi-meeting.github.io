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1089600" cy="36576000"/>
  <p:notesSz cx="6858000" cy="9144000"/>
  <p:defaultTextStyle>
    <a:defPPr>
      <a:defRPr lang="en-US"/>
    </a:defPPr>
    <a:lvl1pPr marL="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1pPr>
    <a:lvl2pPr marL="1828216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2pPr>
    <a:lvl3pPr marL="3656431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3pPr>
    <a:lvl4pPr marL="5484647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4pPr>
    <a:lvl5pPr marL="7312858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5pPr>
    <a:lvl6pPr marL="914107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6pPr>
    <a:lvl7pPr marL="1096929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7pPr>
    <a:lvl8pPr marL="1279750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8pPr>
    <a:lvl9pPr marL="1462572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9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652"/>
    <p:restoredTop sz="94762"/>
  </p:normalViewPr>
  <p:slideViewPr>
    <p:cSldViewPr snapToGrid="0" snapToObjects="1">
      <p:cViewPr varScale="1">
        <p:scale>
          <a:sx n="24" d="100"/>
          <a:sy n="24" d="100"/>
        </p:scale>
        <p:origin x="3512" y="240"/>
      </p:cViewPr>
      <p:guideLst>
        <p:guide orient="horz" pos="11520"/>
        <p:guide pos="9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5E8B9-FFAC-AB42-844F-BBBEADE8BBF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7725" y="1143000"/>
            <a:ext cx="2622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E78B9-159C-0E4F-9C03-98278BC30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6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1483924" y="747213"/>
            <a:ext cx="28333428" cy="3155591"/>
          </a:xfrm>
          <a:prstGeom prst="rect">
            <a:avLst/>
          </a:prstGeom>
          <a:noFill/>
        </p:spPr>
        <p:txBody>
          <a:bodyPr lIns="91428" tIns="45714" rIns="91428" bIns="45714">
            <a:normAutofit/>
          </a:bodyPr>
          <a:lstStyle>
            <a:lvl1pPr algn="l">
              <a:defRPr sz="595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a Poster Title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1537712" y="5349773"/>
            <a:ext cx="28333428" cy="1400005"/>
          </a:xfrm>
          <a:prstGeom prst="rect">
            <a:avLst/>
          </a:prstGeom>
          <a:noFill/>
        </p:spPr>
        <p:txBody>
          <a:bodyPr lIns="91428" tIns="45714" rIns="91428" bIns="45714">
            <a:noAutofit/>
          </a:bodyPr>
          <a:lstStyle>
            <a:lvl1pPr algn="l">
              <a:buNone/>
              <a:defRPr sz="3542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Project URL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1483924" y="4001336"/>
            <a:ext cx="28333428" cy="1079498"/>
          </a:xfrm>
          <a:prstGeom prst="rect">
            <a:avLst/>
          </a:prstGeom>
          <a:noFill/>
        </p:spPr>
        <p:txBody>
          <a:bodyPr lIns="91428" tIns="45714" rIns="91428" bIns="45714" anchor="ctr">
            <a:noAutofit/>
          </a:bodyPr>
          <a:lstStyle>
            <a:lvl1pPr algn="l">
              <a:buNone/>
              <a:defRPr sz="439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Click to add PIs: PI Names and Affiliations </a:t>
            </a:r>
          </a:p>
        </p:txBody>
      </p:sp>
      <p:sp>
        <p:nvSpPr>
          <p:cNvPr id="15" name="Content Placeholder 27"/>
          <p:cNvSpPr>
            <a:spLocks noGrp="1"/>
          </p:cNvSpPr>
          <p:nvPr>
            <p:ph sz="quarter" idx="19" hasCustomPrompt="1"/>
          </p:nvPr>
        </p:nvSpPr>
        <p:spPr>
          <a:xfrm>
            <a:off x="1483924" y="19827116"/>
            <a:ext cx="28333429" cy="5080000"/>
          </a:xfrm>
          <a:prstGeom prst="rect">
            <a:avLst/>
          </a:prstGeom>
          <a:noFill/>
        </p:spPr>
        <p:txBody>
          <a:bodyPr lIns="91428" tIns="45714" rIns="91428" bIns="45714" numCol="1">
            <a:normAutofit/>
          </a:bodyPr>
          <a:lstStyle>
            <a:lvl1pPr marL="192278" indent="0" algn="l">
              <a:buNone/>
              <a:tabLst/>
              <a:defRPr sz="4250">
                <a:solidFill>
                  <a:schemeClr val="tx1"/>
                </a:solidFill>
                <a:latin typeface="+mj-lt"/>
              </a:defRPr>
            </a:lvl1pPr>
            <a:lvl2pPr marL="1100914" indent="-518078" algn="l">
              <a:defRPr sz="3542">
                <a:solidFill>
                  <a:schemeClr val="tx1"/>
                </a:solidFill>
                <a:latin typeface="+mj-lt"/>
              </a:defRPr>
            </a:lvl2pPr>
            <a:lvl3pPr marL="1489471" indent="-323798" algn="l">
              <a:defRPr sz="3046">
                <a:solidFill>
                  <a:schemeClr val="tx1"/>
                </a:solidFill>
                <a:latin typeface="+mj-lt"/>
              </a:defRPr>
            </a:lvl3pPr>
            <a:lvl4pPr marL="2007549" indent="-453317" algn="l">
              <a:defRPr sz="2904">
                <a:solidFill>
                  <a:schemeClr val="tx1"/>
                </a:solidFill>
                <a:latin typeface="+mj-lt"/>
              </a:defRPr>
            </a:lvl4pPr>
            <a:lvl5pPr marL="2396108" indent="-323798" algn="l">
              <a:defRPr sz="255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Add Technical Approach to </a:t>
            </a:r>
            <a:r>
              <a:rPr lang="en-US"/>
              <a:t>Generating Datasets</a:t>
            </a:r>
          </a:p>
          <a:p>
            <a:pPr lvl="0"/>
            <a:r>
              <a:rPr lang="en-US"/>
              <a:t>(</a:t>
            </a:r>
            <a:r>
              <a:rPr lang="en-US" dirty="0"/>
              <a:t>technical approach , key innovations, new contributions)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 hasCustomPrompt="1"/>
          </p:nvPr>
        </p:nvSpPr>
        <p:spPr>
          <a:xfrm>
            <a:off x="10976095" y="25924040"/>
            <a:ext cx="9137409" cy="7644323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Result Dissemination Plans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1" hasCustomPrompt="1"/>
          </p:nvPr>
        </p:nvSpPr>
        <p:spPr>
          <a:xfrm>
            <a:off x="1483923" y="11670716"/>
            <a:ext cx="28333429" cy="7741736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28185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Scientific Security Dataset Needs Addressed</a:t>
            </a:r>
            <a:br>
              <a:rPr lang="en-US" dirty="0"/>
            </a:br>
            <a:r>
              <a:rPr lang="en-US" dirty="0"/>
              <a:t>  (what problem are you trying solve)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1743994" y="25816463"/>
            <a:ext cx="8877338" cy="7805687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8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Resulting Benefits to Scientific Cyberinfrastructure</a:t>
            </a:r>
            <a:br>
              <a:rPr lang="en-US" dirty="0"/>
            </a:br>
            <a:r>
              <a:rPr lang="en-US" dirty="0"/>
              <a:t>  (what are the benefits if successful)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20679943" y="25944236"/>
            <a:ext cx="9137409" cy="7603932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Risks Versus Potential For Advances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25" hasCustomPrompt="1"/>
          </p:nvPr>
        </p:nvSpPr>
        <p:spPr>
          <a:xfrm>
            <a:off x="1483924" y="8096624"/>
            <a:ext cx="28333429" cy="3089440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0" indent="0">
              <a:buNone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rgbClr val="FFFFFF"/>
                </a:solidFill>
              </a:defRPr>
            </a:lvl2pPr>
            <a:lvl3pPr marL="1554232" indent="-323798">
              <a:defRPr sz="3046">
                <a:solidFill>
                  <a:srgbClr val="FFFFFF"/>
                </a:solidFill>
              </a:defRPr>
            </a:lvl3pPr>
            <a:lvl4pPr marL="2007549" indent="-323798">
              <a:defRPr sz="2550">
                <a:solidFill>
                  <a:srgbClr val="FFFFFF"/>
                </a:solidFill>
              </a:defRPr>
            </a:lvl4pPr>
            <a:lvl5pPr marL="2331347" indent="-323798">
              <a:defRPr sz="2550">
                <a:solidFill>
                  <a:srgbClr val="FFFFFF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Use this space as you wish, but consider this structure.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F0313-B2C5-834A-8F2C-4CCB40E7C4A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26472" y="34968368"/>
            <a:ext cx="18848071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6477" tIns="133238" rIns="266477" bIns="133238"/>
          <a:lstStyle>
            <a:lvl1pPr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00000"/>
              </a:lnSpc>
            </a:pPr>
            <a:r>
              <a:rPr lang="en-US" altLang="en-US" sz="2720" dirty="0">
                <a:solidFill>
                  <a:schemeClr val="bg1"/>
                </a:solidFill>
                <a:latin typeface="Helvetica" pitchFamily="2" charset="0"/>
              </a:rPr>
              <a:t>The 2nd Cybersecurity Innovation for Cyberinfrastructure (CICI) Principle Investigator Meeting </a:t>
            </a:r>
          </a:p>
          <a:p>
            <a:pPr algn="l" eaLnBrk="1" hangingPunct="1">
              <a:lnSpc>
                <a:spcPct val="100000"/>
              </a:lnSpc>
            </a:pPr>
            <a:r>
              <a:rPr lang="en-US" altLang="en-US" sz="2380" dirty="0">
                <a:solidFill>
                  <a:schemeClr val="bg1"/>
                </a:solidFill>
                <a:latin typeface="Helvetica" pitchFamily="2" charset="0"/>
              </a:rPr>
              <a:t>May 11-12, 2026 | Los Angeles, California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B7185B3-508E-CC4B-88AD-57DA27ACDC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42" b="942"/>
          <a:stretch/>
        </p:blipFill>
        <p:spPr bwMode="auto">
          <a:xfrm>
            <a:off x="372534" y="34968367"/>
            <a:ext cx="1371460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72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1BD4E2-33E7-70DB-169B-8D03B4FAD73B}"/>
              </a:ext>
            </a:extLst>
          </p:cNvPr>
          <p:cNvSpPr/>
          <p:nvPr userDrawn="1"/>
        </p:nvSpPr>
        <p:spPr>
          <a:xfrm>
            <a:off x="2117558" y="34451365"/>
            <a:ext cx="28972041" cy="21246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386FE9-78AF-B5D8-EFEF-1AE1990E8A5B}"/>
              </a:ext>
            </a:extLst>
          </p:cNvPr>
          <p:cNvSpPr/>
          <p:nvPr userDrawn="1"/>
        </p:nvSpPr>
        <p:spPr>
          <a:xfrm>
            <a:off x="-1" y="34451365"/>
            <a:ext cx="2117559" cy="21246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5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1554232" rtl="0" eaLnBrk="1" latinLnBrk="0" hangingPunct="1">
        <a:spcBef>
          <a:spcPct val="0"/>
        </a:spcBef>
        <a:buNone/>
        <a:defRPr sz="149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5673" indent="-1165673" algn="l" defTabSz="1554232" rtl="0" eaLnBrk="1" latinLnBrk="0" hangingPunct="1">
        <a:spcBef>
          <a:spcPct val="20000"/>
        </a:spcBef>
        <a:buFont typeface="Arial"/>
        <a:buChar char="•"/>
        <a:defRPr sz="10908" kern="1200">
          <a:solidFill>
            <a:schemeClr val="tx1"/>
          </a:solidFill>
          <a:latin typeface="+mn-lt"/>
          <a:ea typeface="+mn-ea"/>
          <a:cs typeface="+mn-cs"/>
        </a:defRPr>
      </a:lvl1pPr>
      <a:lvl2pPr marL="2525625" indent="-971395" algn="l" defTabSz="1554232" rtl="0" eaLnBrk="1" latinLnBrk="0" hangingPunct="1">
        <a:spcBef>
          <a:spcPct val="20000"/>
        </a:spcBef>
        <a:buFont typeface="Arial"/>
        <a:buChar char="–"/>
        <a:defRPr sz="9491" kern="1200">
          <a:solidFill>
            <a:schemeClr val="tx1"/>
          </a:solidFill>
          <a:latin typeface="+mn-lt"/>
          <a:ea typeface="+mn-ea"/>
          <a:cs typeface="+mn-cs"/>
        </a:defRPr>
      </a:lvl2pPr>
      <a:lvl3pPr marL="3885579" indent="-777115" algn="l" defTabSz="1554232" rtl="0" eaLnBrk="1" latinLnBrk="0" hangingPunct="1">
        <a:spcBef>
          <a:spcPct val="20000"/>
        </a:spcBef>
        <a:buFont typeface="Arial"/>
        <a:buChar char="•"/>
        <a:defRPr sz="8146" kern="1200">
          <a:solidFill>
            <a:schemeClr val="tx1"/>
          </a:solidFill>
          <a:latin typeface="+mn-lt"/>
          <a:ea typeface="+mn-ea"/>
          <a:cs typeface="+mn-cs"/>
        </a:defRPr>
      </a:lvl3pPr>
      <a:lvl4pPr marL="5439810" indent="-777115" algn="l" defTabSz="1554232" rtl="0" eaLnBrk="1" latinLnBrk="0" hangingPunct="1">
        <a:spcBef>
          <a:spcPct val="20000"/>
        </a:spcBef>
        <a:buFont typeface="Arial"/>
        <a:buChar char="–"/>
        <a:defRPr sz="6871" kern="1200">
          <a:solidFill>
            <a:schemeClr val="tx1"/>
          </a:solidFill>
          <a:latin typeface="+mn-lt"/>
          <a:ea typeface="+mn-ea"/>
          <a:cs typeface="+mn-cs"/>
        </a:defRPr>
      </a:lvl4pPr>
      <a:lvl5pPr marL="6994041" indent="-777115" algn="l" defTabSz="1554232" rtl="0" eaLnBrk="1" latinLnBrk="0" hangingPunct="1">
        <a:spcBef>
          <a:spcPct val="20000"/>
        </a:spcBef>
        <a:buFont typeface="Arial"/>
        <a:buChar char="»"/>
        <a:defRPr sz="6871" kern="1200">
          <a:solidFill>
            <a:schemeClr val="tx1"/>
          </a:solidFill>
          <a:latin typeface="+mn-lt"/>
          <a:ea typeface="+mn-ea"/>
          <a:cs typeface="+mn-cs"/>
        </a:defRPr>
      </a:lvl5pPr>
      <a:lvl6pPr marL="8548272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6pPr>
      <a:lvl7pPr marL="10102503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7pPr>
      <a:lvl8pPr marL="1165673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8pPr>
      <a:lvl9pPr marL="1321096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1pPr>
      <a:lvl2pPr marL="1554232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2pPr>
      <a:lvl3pPr marL="3108463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3pPr>
      <a:lvl4pPr marL="4662694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4pPr>
      <a:lvl5pPr marL="6216926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5pPr>
      <a:lvl6pPr marL="7771157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6pPr>
      <a:lvl7pPr marL="932538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7pPr>
      <a:lvl8pPr marL="1087961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8pPr>
      <a:lvl9pPr marL="1243385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017078-4B12-9245-882C-7504E078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BBDF55-3C22-6C45-97D6-C341840652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15BA45-653D-A740-9AE6-B08AF807E6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00D70B-D3D9-B747-91C3-742ABBD61BF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2CA2ED7-343B-5E4D-8E26-7D30B108F679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691B863-EED5-7640-B34C-B389DD69C3C6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18E915D-4082-2441-B0A3-F40619ABE1D0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40800FA-972E-B04D-A145-322861F3046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095164" y="25487723"/>
            <a:ext cx="9137409" cy="76039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7A5D4FD-9CC3-2D48-826B-8D1C4F4DC0B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0679945" y="25487723"/>
            <a:ext cx="9137409" cy="76039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5021A7A-D49B-AE44-A9A4-A42E89A4193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83924" y="8096624"/>
            <a:ext cx="28333429" cy="3089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D31A29-0E76-F844-B404-A7F3A9B1518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6700480" y="747212"/>
            <a:ext cx="3116874" cy="541312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3728971" y="28528137"/>
            <a:ext cx="6853057" cy="99745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 dirty="0"/>
              <a:t>Add Your Logo and/or project info here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3728971" y="28992322"/>
            <a:ext cx="6088380" cy="95427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/>
              <a:t>Award ID#:</a:t>
            </a:r>
            <a:endParaRPr lang="en-US" sz="3060" dirty="0"/>
          </a:p>
        </p:txBody>
      </p:sp>
    </p:spTree>
    <p:extLst>
      <p:ext uri="{BB962C8B-B14F-4D97-AF65-F5344CB8AC3E}">
        <p14:creationId xmlns:p14="http://schemas.microsoft.com/office/powerpoint/2010/main" val="95020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12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Company>Vanderbilt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Karns</dc:creator>
  <cp:lastModifiedBy>Massey, Daniel F.</cp:lastModifiedBy>
  <cp:revision>54</cp:revision>
  <dcterms:created xsi:type="dcterms:W3CDTF">2015-11-02T16:42:22Z</dcterms:created>
  <dcterms:modified xsi:type="dcterms:W3CDTF">2026-04-16T18:23:49Z</dcterms:modified>
</cp:coreProperties>
</file>